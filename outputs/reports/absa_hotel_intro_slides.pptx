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wide"/>
  <p:notesSz cx="6858000" cy="9144000"/>
  <p:defaultTextStyle>
    <a:defPPr>
      <a:defRPr lang="vi-V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/Relationships>
</file>

<file path=ppt/slides/_rels/slide5.xml.rels><?xml version="1.0" encoding="UTF-8" standalone="yes"?><Relationships xmlns="http://schemas.openxmlformats.org/package/2006/relationships"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600" b="1">
                <a:solidFill>
                  <a:srgbClr val="0f172a"/>
                </a:solidFill>
                <a:latin typeface="Arial"/>
                <a:cs typeface="Arial"/>
              </a:rPr>
              <a:t>ABSA cho review khách sạn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3232" y="141732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200" b="0">
                <a:solidFill>
                  <a:srgbClr val="0f766e"/>
                </a:solidFill>
                <a:latin typeface="Arial"/>
                <a:cs typeface="Arial"/>
              </a:rPr>
              <a:t>Aspect-Based Sentiment Analysis trên VLSP 2018 Hotel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2148840"/>
            <a:ext cx="5577840" cy="29260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Bài toán: từ một câu review, phát hiện khách đang nói về khía cạnh nào và cảm xúc tương ứng.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Ví dụ: “phòng sạch nhưng điều hòa yếu” -&gt; ROOMS#CLEANLINESS positive, ROOM_AMENITIES#QUALITY negative.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Ý nghĩa thực tế: giúp chủ khách sạn gom phản hồi, ưu tiên xử lý vấn đề và giải thích được vì sao model đưa ra kết quả.</a:t>
            </a:r>
          </a:p>
        </p:txBody>
      </p:sp>
      <p:sp>
        <p:nvSpPr>
          <p:cNvPr id="6" name="Rect 6"/>
          <p:cNvSpPr/>
          <p:nvPr/>
        </p:nvSpPr>
        <p:spPr>
          <a:xfrm>
            <a:off x="6629400" y="2057400"/>
            <a:ext cx="4526280" cy="2377440"/>
          </a:xfrm>
          <a:prstGeom prst="roundRect">
            <a:avLst/>
          </a:prstGeom>
          <a:solidFill>
            <a:srgbClr val="ecfeff"/>
          </a:solidFill>
          <a:ln>
            <a:solidFill>
              <a:srgbClr val="99f6e4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903720" y="2286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200" b="1">
                <a:solidFill>
                  <a:srgbClr val="134e4a"/>
                </a:solidFill>
                <a:latin typeface="Arial"/>
                <a:cs typeface="Arial"/>
              </a:rPr>
              <a:t>Output mong muốn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03720" y="2788920"/>
            <a:ext cx="3977639" cy="12801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Aspect: SERVICE#GENERAL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Sentiment: Positive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Evidence: “nhân viên thân thiện”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Action: giữ chuẩn phục vụ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000" b="1">
                <a:solidFill>
                  <a:srgbClr val="0f172a"/>
                </a:solidFill>
                <a:latin typeface="Arial"/>
                <a:cs typeface="Arial"/>
              </a:rPr>
              <a:t>Dữ liệu VLSP 2018 Hotel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02920" y="960120"/>
            <a:ext cx="11183111" cy="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685800" y="1234440"/>
            <a:ext cx="4846320" cy="16459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000" b="0">
                <a:solidFill>
                  <a:srgbClr val="111827"/>
                </a:solidFill>
                <a:latin typeface="Arial"/>
                <a:cs typeface="Arial"/>
              </a:rPr>
              <a:t>Tổng 5,600 review khách sạn.</a:t>
            </a:r>
          </a:p>
          <a:p>
            <a:r>
              <a:rPr lang="vi-VN" sz="2000" b="0">
                <a:solidFill>
                  <a:srgbClr val="111827"/>
                </a:solidFill>
                <a:latin typeface="Arial"/>
                <a:cs typeface="Arial"/>
              </a:rPr>
              <a:t>Train: 3,000 | Dev: 2,000 | Test: 600.</a:t>
            </a:r>
          </a:p>
          <a:p>
            <a:r>
              <a:rPr lang="vi-VN" sz="2000" b="0">
                <a:solidFill>
                  <a:srgbClr val="111827"/>
                </a:solidFill>
                <a:latin typeface="Arial"/>
                <a:cs typeface="Arial"/>
              </a:rPr>
              <a:t>Mỗi mẫu có 34 aspect columns.</a:t>
            </a:r>
          </a:p>
          <a:p>
            <a:r>
              <a:rPr lang="vi-VN" sz="2000" b="0">
                <a:solidFill>
                  <a:srgbClr val="111827"/>
                </a:solidFill>
                <a:latin typeface="Arial"/>
                <a:cs typeface="Arial"/>
              </a:rPr>
              <a:t>Nhãn: absent, positive, negative, neutral.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32461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200" b="1">
                <a:solidFill>
                  <a:srgbClr val="0f172a"/>
                </a:solidFill>
                <a:latin typeface="Arial"/>
                <a:cs typeface="Arial"/>
              </a:rPr>
              <a:t>Đặc điểm khó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370332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Dữ liệu ít so với số aspect.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Nhiều aspect hiếm, lệch nhãn mạnh.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Tiếng Việt cần word segmentation tốt.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Một số aspect gần như không có mẫu train.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234440"/>
            <a:ext cx="58064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000" b="1">
                <a:solidFill>
                  <a:srgbClr val="0f172a"/>
                </a:solidFill>
                <a:latin typeface="Arial"/>
                <a:cs typeface="Arial"/>
              </a:rPr>
              <a:t>Baseline: SVM + TF-IDF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02920" y="960120"/>
            <a:ext cx="11183111" cy="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685800" y="1234440"/>
            <a:ext cx="5303520" cy="2286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Mục tiêu: tạo mốc truyền thống, dễ giải thích trước khi dùng Transformer.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Pipeline: preprocess nhẹ -&gt; TF-IDF unigram/bigram -&gt; SVM tuyến tính cho từng aspect.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Ưu điểm: nhanh, đơn giản, explainable qua từ/cụm từ.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Hạn chế: không hiểu ngữ cảnh sâu, không chia sẻ representation giữa 34 aspect.</a:t>
            </a:r>
          </a:p>
        </p:txBody>
      </p:sp>
      <p:sp>
        <p:nvSpPr>
          <p:cNvPr id="5" name="Rect 5"/>
          <p:cNvSpPr/>
          <p:nvPr/>
        </p:nvSpPr>
        <p:spPr>
          <a:xfrm>
            <a:off x="6400800" y="1325880"/>
            <a:ext cx="15087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6629400" y="148132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600" b="1">
                <a:solidFill>
                  <a:srgbClr val="475569"/>
                </a:solidFill>
                <a:latin typeface="Arial"/>
                <a:cs typeface="Arial"/>
              </a:rPr>
              <a:t>ACD F1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01968" y="1828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400" b="1">
                <a:solidFill>
                  <a:srgbClr val="0f766e"/>
                </a:solidFill>
                <a:latin typeface="Arial"/>
                <a:cs typeface="Arial"/>
              </a:rPr>
              <a:t>0.4074</a:t>
            </a:r>
          </a:p>
        </p:txBody>
      </p:sp>
      <p:sp>
        <p:nvSpPr>
          <p:cNvPr id="8" name="Rect 8"/>
          <p:cNvSpPr/>
          <p:nvPr/>
        </p:nvSpPr>
        <p:spPr>
          <a:xfrm>
            <a:off x="8183879" y="1325880"/>
            <a:ext cx="15087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412480" y="148132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600" b="1">
                <a:solidFill>
                  <a:srgbClr val="475569"/>
                </a:solidFill>
                <a:latin typeface="Arial"/>
                <a:cs typeface="Arial"/>
              </a:rPr>
              <a:t>SPC F1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5048" y="18288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400" b="1">
                <a:solidFill>
                  <a:srgbClr val="0f766e"/>
                </a:solidFill>
                <a:latin typeface="Arial"/>
                <a:cs typeface="Arial"/>
              </a:rPr>
              <a:t>0.2272</a:t>
            </a:r>
          </a:p>
        </p:txBody>
      </p:sp>
      <p:sp>
        <p:nvSpPr>
          <p:cNvPr id="11" name="Rect 11"/>
          <p:cNvSpPr/>
          <p:nvPr/>
        </p:nvSpPr>
        <p:spPr>
          <a:xfrm>
            <a:off x="9966960" y="1325880"/>
            <a:ext cx="1645920" cy="1051560"/>
          </a:xfrm>
          <a:prstGeom prst="roundRect">
            <a:avLst/>
          </a:prstGeom>
          <a:solidFill>
            <a:srgbClr val="ecfeff"/>
          </a:solidFill>
          <a:ln>
            <a:solidFill>
              <a:srgbClr val="99f6e4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0149840" y="148132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600" b="1">
                <a:solidFill>
                  <a:srgbClr val="475569"/>
                </a:solidFill>
                <a:latin typeface="Arial"/>
                <a:cs typeface="Arial"/>
              </a:rPr>
              <a:t>Combined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49840" y="182880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400" b="1">
                <a:solidFill>
                  <a:srgbClr val="0f766e"/>
                </a:solidFill>
                <a:latin typeface="Arial"/>
                <a:cs typeface="Arial"/>
              </a:rPr>
              <a:t>0.3173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0800" y="30632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200" b="1">
                <a:solidFill>
                  <a:srgbClr val="111827"/>
                </a:solidFill>
                <a:latin typeface="Arial"/>
                <a:cs typeface="Arial"/>
              </a:rPr>
              <a:t>Vai trò trong báo cáo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0800" y="356616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Chứng minh bài toán không dễ với feature truyền thống.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Làm nền để giải thích vì sao cần PhoBERT.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Cho thấy ACD dễ hơn SPC: phát hiện aspect tốt hơn phân cực sentiment.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000" b="1">
                <a:solidFill>
                  <a:srgbClr val="0f172a"/>
                </a:solidFill>
                <a:latin typeface="Arial"/>
                <a:cs typeface="Arial"/>
              </a:rPr>
              <a:t>PhoBERT: model dự đoán chính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02920" y="960120"/>
            <a:ext cx="11183111" cy="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685800" y="1143000"/>
            <a:ext cx="5394960" cy="23774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Dùng PhoBERT đã fine-tune, single model, không ensemble.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Preprocess bằng VnCoreNLP để khớp cách PhoBERT được pretrain.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Kiến trúc multi-task: 34 classification heads, mỗi head dự đoán 4 nhãn.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Chọn checkpoint tốt nhất theo Dev Combined F1, đánh giá trên Test.</a:t>
            </a:r>
          </a:p>
        </p:txBody>
      </p:sp>
      <p:sp>
        <p:nvSpPr>
          <p:cNvPr id="5" name="Rect 5"/>
          <p:cNvSpPr/>
          <p:nvPr/>
        </p:nvSpPr>
        <p:spPr>
          <a:xfrm>
            <a:off x="6400800" y="1234440"/>
            <a:ext cx="4937760" cy="1005840"/>
          </a:xfrm>
          <a:prstGeom prst="roundRect">
            <a:avLst/>
          </a:prstGeom>
          <a:solidFill>
            <a:srgbClr val="ecfeff"/>
          </a:solidFill>
          <a:ln>
            <a:solidFill>
              <a:srgbClr val="99f6e4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6675120" y="14173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100" b="1">
                <a:solidFill>
                  <a:srgbClr val="134e4a"/>
                </a:solidFill>
                <a:latin typeface="Arial"/>
                <a:cs typeface="Arial"/>
              </a:rPr>
              <a:t>Best single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5120" y="17830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0">
                <a:solidFill>
                  <a:srgbClr val="334155"/>
                </a:solidFill>
                <a:latin typeface="Arial"/>
                <a:cs typeface="Arial"/>
              </a:rPr>
              <a:t>PhoBERT cls_only + VnCoreNLP</a:t>
            </a:r>
          </a:p>
        </p:txBody>
      </p:sp>
      <p:sp>
        <p:nvSpPr>
          <p:cNvPr id="8" name="Rect 8"/>
          <p:cNvSpPr/>
          <p:nvPr/>
        </p:nvSpPr>
        <p:spPr>
          <a:xfrm>
            <a:off x="6400800" y="2606040"/>
            <a:ext cx="15087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565392" y="27706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500" b="1">
                <a:solidFill>
                  <a:srgbClr val="475569"/>
                </a:solidFill>
                <a:latin typeface="Arial"/>
                <a:cs typeface="Arial"/>
              </a:rPr>
              <a:t>ACD F1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65392" y="3127248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300" b="1">
                <a:solidFill>
                  <a:srgbClr val="0f766e"/>
                </a:solidFill>
                <a:latin typeface="Arial"/>
                <a:cs typeface="Arial"/>
              </a:rPr>
              <a:t>0.6360</a:t>
            </a:r>
          </a:p>
        </p:txBody>
      </p:sp>
      <p:sp>
        <p:nvSpPr>
          <p:cNvPr id="11" name="Rect 11"/>
          <p:cNvSpPr/>
          <p:nvPr/>
        </p:nvSpPr>
        <p:spPr>
          <a:xfrm>
            <a:off x="8138160" y="2606040"/>
            <a:ext cx="15087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302752" y="27706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500" b="1">
                <a:solidFill>
                  <a:srgbClr val="475569"/>
                </a:solidFill>
                <a:latin typeface="Arial"/>
                <a:cs typeface="Arial"/>
              </a:rPr>
              <a:t>SPC F1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2752" y="3127248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300" b="1">
                <a:solidFill>
                  <a:srgbClr val="0f766e"/>
                </a:solidFill>
                <a:latin typeface="Arial"/>
                <a:cs typeface="Arial"/>
              </a:rPr>
              <a:t>0.4727</a:t>
            </a:r>
          </a:p>
        </p:txBody>
      </p:sp>
      <p:sp>
        <p:nvSpPr>
          <p:cNvPr id="14" name="Rect 14"/>
          <p:cNvSpPr/>
          <p:nvPr/>
        </p:nvSpPr>
        <p:spPr>
          <a:xfrm>
            <a:off x="9875520" y="2606040"/>
            <a:ext cx="15087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10040112" y="27706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500" b="1">
                <a:solidFill>
                  <a:srgbClr val="475569"/>
                </a:solidFill>
                <a:latin typeface="Arial"/>
                <a:cs typeface="Arial"/>
              </a:rPr>
              <a:t>Combined F1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40112" y="3127248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300" b="1">
                <a:solidFill>
                  <a:srgbClr val="0f766e"/>
                </a:solidFill>
                <a:latin typeface="Arial"/>
                <a:cs typeface="Arial"/>
              </a:rPr>
              <a:t>0.5543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00800" y="41605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100" b="1">
                <a:solidFill>
                  <a:srgbClr val="111827"/>
                </a:solidFill>
                <a:latin typeface="Arial"/>
                <a:cs typeface="Arial"/>
              </a:rPr>
              <a:t>Điểm nhấn để giải thích với thầy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0" y="4617720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VnCoreNLP tăng Combined F1 từ 0.2981 lên 0.5543.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PhoBERT supervised vượt SVM và LLM/RAG trong prediction.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Kết quả đủ tốt để dùng làm engine chính của app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000" b="1">
                <a:solidFill>
                  <a:srgbClr val="0f172a"/>
                </a:solidFill>
                <a:latin typeface="Arial"/>
                <a:cs typeface="Arial"/>
              </a:rPr>
              <a:t>LLM/RAG và hướng ứng dụng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02920" y="960120"/>
            <a:ext cx="11183111" cy="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685800" y="1143000"/>
            <a:ext cx="5394960" cy="246888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LLM + RAG được thử để dự đoán trực tiếp bằng few-shot examples.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Kết quả tốt hơn LLM few-shot thường, nhưng vẫn thấp hơn PhoBERT supervised.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Bài học: LLM không nên thay PhoBERT trong prediction khi đã có dữ liệu train.</a:t>
            </a:r>
          </a:p>
          <a:p>
            <a:r>
              <a:rPr lang="vi-VN" sz="1900" b="0">
                <a:solidFill>
                  <a:srgbClr val="111827"/>
                </a:solidFill>
                <a:latin typeface="Arial"/>
                <a:cs typeface="Arial"/>
              </a:rPr>
              <a:t>Giá trị chính của LLM: giải thích, trích bằng chứng, hỗ trợ error analysis.</a:t>
            </a:r>
          </a:p>
        </p:txBody>
      </p:sp>
      <p:sp>
        <p:nvSpPr>
          <p:cNvPr id="5" name="Rect 5"/>
          <p:cNvSpPr/>
          <p:nvPr/>
        </p:nvSpPr>
        <p:spPr>
          <a:xfrm>
            <a:off x="6400800" y="1234440"/>
            <a:ext cx="484632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6629400" y="14630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200" b="1">
                <a:solidFill>
                  <a:srgbClr val="111827"/>
                </a:solidFill>
                <a:latin typeface="Arial"/>
                <a:cs typeface="Arial"/>
              </a:rPr>
              <a:t>So sánh Combined F1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29400" y="19659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500" b="0">
                <a:solidFill>
                  <a:srgbClr val="334155"/>
                </a:solidFill>
                <a:latin typeface="Arial"/>
                <a:cs typeface="Arial"/>
              </a:rPr>
              <a:t>SVM+TF-IDF</a:t>
            </a:r>
          </a:p>
        </p:txBody>
      </p:sp>
      <p:sp>
        <p:nvSpPr>
          <p:cNvPr id="8" name="Rect 8"/>
          <p:cNvSpPr/>
          <p:nvPr/>
        </p:nvSpPr>
        <p:spPr>
          <a:xfrm>
            <a:off x="8092440" y="1965960"/>
            <a:ext cx="1499052" cy="201168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972800" y="193852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400" b="1">
                <a:solidFill>
                  <a:srgbClr val="111827"/>
                </a:solidFill>
                <a:latin typeface="Arial"/>
                <a:cs typeface="Arial"/>
              </a:rPr>
              <a:t>0.3173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29400" y="246888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500" b="0">
                <a:solidFill>
                  <a:srgbClr val="334155"/>
                </a:solidFill>
                <a:latin typeface="Arial"/>
                <a:cs typeface="Arial"/>
              </a:rPr>
              <a:t>LLM+RAG k=8</a:t>
            </a:r>
          </a:p>
        </p:txBody>
      </p:sp>
      <p:sp>
        <p:nvSpPr>
          <p:cNvPr id="11" name="Rect 11"/>
          <p:cNvSpPr/>
          <p:nvPr/>
        </p:nvSpPr>
        <p:spPr>
          <a:xfrm>
            <a:off x="8092440" y="2468880"/>
            <a:ext cx="1668658" cy="20116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0972800" y="244144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400" b="1">
                <a:solidFill>
                  <a:srgbClr val="111827"/>
                </a:solidFill>
                <a:latin typeface="Arial"/>
                <a:cs typeface="Arial"/>
              </a:rPr>
              <a:t>0.3532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29400" y="297180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500" b="0">
                <a:solidFill>
                  <a:srgbClr val="334155"/>
                </a:solidFill>
                <a:latin typeface="Arial"/>
                <a:cs typeface="Arial"/>
              </a:rPr>
              <a:t>PhoBERT</a:t>
            </a:r>
          </a:p>
        </p:txBody>
      </p:sp>
      <p:sp>
        <p:nvSpPr>
          <p:cNvPr id="14" name="Rect 14"/>
          <p:cNvSpPr/>
          <p:nvPr/>
        </p:nvSpPr>
        <p:spPr>
          <a:xfrm>
            <a:off x="8092440" y="2971800"/>
            <a:ext cx="2618734" cy="201168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10972800" y="2944368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400" b="1">
                <a:solidFill>
                  <a:srgbClr val="111827"/>
                </a:solidFill>
                <a:latin typeface="Arial"/>
                <a:cs typeface="Arial"/>
              </a:rPr>
              <a:t>0.5543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0800" y="44348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100" b="1">
                <a:solidFill>
                  <a:srgbClr val="111827"/>
                </a:solidFill>
                <a:latin typeface="Arial"/>
                <a:cs typeface="Arial"/>
              </a:rPr>
              <a:t>Kết luận thiết kế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00800" y="484632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PhoBERT = dự đoán chính.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LLM = giải thích prediction, không sửa nhãn.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Ứng dụng thực tế: dashboard phân tích review cho chủ khách sạn.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3000" b="1">
                <a:solidFill>
                  <a:srgbClr val="0f172a"/>
                </a:solidFill>
                <a:latin typeface="Arial"/>
                <a:cs typeface="Arial"/>
              </a:rPr>
              <a:t>Demo app: PhoBERT + LLM Explanation</a:t>
            </a:r>
          </a:p>
        </p:txBody>
      </p:sp>
      <p:cxnSp>
        <p:nvCxnSpPr>
          <p:cNvPr id="3" name="Line 3"/>
          <p:cNvCxnSpPr/>
          <p:nvPr/>
        </p:nvCxnSpPr>
        <p:spPr>
          <a:xfrm>
            <a:off x="502920" y="960120"/>
            <a:ext cx="11183111" cy="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4" name="TextBox 4"/>
          <p:cNvSpPr txBox="1"/>
          <p:nvPr/>
        </p:nvSpPr>
        <p:spPr>
          <a:xfrm>
            <a:off x="685800" y="1143000"/>
            <a:ext cx="4114800" cy="1463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Input: nhập một review hoặc import CSV/XLSX có cột review_text.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PhoBERT trả về aspect, sentiment, confidence.</a:t>
            </a:r>
          </a:p>
          <a:p>
            <a:r>
              <a:rPr lang="vi-VN" sz="1800" b="0">
                <a:solidFill>
                  <a:srgbClr val="111827"/>
                </a:solidFill>
                <a:latin typeface="Arial"/>
                <a:cs typeface="Arial"/>
              </a:rPr>
              <a:t>LLM giải thích bằng evidence phrase và gợi ý hành động.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143000"/>
            <a:ext cx="6812280" cy="4434840"/>
          </a:xfrm>
          <a:prstGeom prst="rect">
            <a:avLst/>
          </a:prstGeom>
        </p:spPr>
      </p:pic>
      <p:sp>
        <p:nvSpPr>
          <p:cNvPr id="6" name="Rect 6"/>
          <p:cNvSpPr/>
          <p:nvPr/>
        </p:nvSpPr>
        <p:spPr>
          <a:xfrm>
            <a:off x="685800" y="3063240"/>
            <a:ext cx="3611880" cy="2011680"/>
          </a:xfrm>
          <a:prstGeom prst="roundRect">
            <a:avLst/>
          </a:prstGeom>
          <a:solidFill>
            <a:srgbClr val="ecfeff"/>
          </a:solidFill>
          <a:ln>
            <a:solidFill>
              <a:srgbClr val="99f6e4"/>
            </a:solidFill>
          </a:ln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32918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2100" b="1">
                <a:solidFill>
                  <a:srgbClr val="134e4a"/>
                </a:solidFill>
                <a:latin typeface="Arial"/>
                <a:cs typeface="Arial"/>
              </a:rPr>
              <a:t>Thông điệp demo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70332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60000" rIns="120000" bIns="60000"/>
          <a:lstStyle/>
          <a:p>
            <a:r>
              <a:rPr lang="vi-VN" sz="1700" b="0">
                <a:solidFill>
                  <a:srgbClr val="111827"/>
                </a:solidFill>
                <a:latin typeface="Arial"/>
                <a:cs typeface="Arial"/>
              </a:rPr>
              <a:t>Không chỉ có điểm số model.</a:t>
            </a:r>
          </a:p>
          <a:p>
            <a:r>
              <a:rPr lang="vi-VN" sz="1700" b="0">
                <a:solidFill>
                  <a:srgbClr val="111827"/>
                </a:solidFill>
                <a:latin typeface="Arial"/>
                <a:cs typeface="Arial"/>
              </a:rPr>
              <a:t>Có sản phẩm nhỏ cho kịch bản thật.</a:t>
            </a:r>
          </a:p>
          <a:p>
            <a:r>
              <a:rPr lang="vi-VN" sz="1700" b="0">
                <a:solidFill>
                  <a:srgbClr val="111827"/>
                </a:solidFill>
                <a:latin typeface="Arial"/>
                <a:cs typeface="Arial"/>
              </a:rPr>
              <a:t>Dễ trình bày tiến bộ: từ baseline -&gt; model tốt -&gt; ứng dụng explainable.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F97316"/>
      </a:accent2>
      <a:accent3>
        <a:srgbClr val="64748B"/>
      </a:accent3>
      <a:accent4>
        <a:srgbClr val="14B8A6"/>
      </a:accent4>
      <a:accent5>
        <a:srgbClr val="B91C1C"/>
      </a:accent5>
      <a:accent6>
        <a:srgbClr val="475569"/>
      </a:accent6>
      <a:hlink>
        <a:srgbClr val="0F766E"/>
      </a:hlink>
      <a:folHlink>
        <a:srgbClr val="64748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6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6</vt:i4>
      </vt:variant>
    </vt:vector>
  </HeadingPairs>
  <TitlesOfParts>
    <vt:vector size="6" baseType="lpstr"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ABSA VLSP 2018 Hotel Intro</dc:title>
  <dc:creator>Codex</dc:creator>
  <cp:lastModifiedBy>Codex</cp:lastModifiedBy>
  <dcterms:created xsi:type="dcterms:W3CDTF">2026-04-16T17:57:49Z</dcterms:created>
  <dcterms:modified xsi:type="dcterms:W3CDTF">2026-04-16T17:57:49Z</dcterms:modified>
</cp:coreProperties>
</file>